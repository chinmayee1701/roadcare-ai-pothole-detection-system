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61" r:id="rId2"/>
    <p:sldId id="298" r:id="rId3"/>
    <p:sldId id="267" r:id="rId4"/>
    <p:sldId id="307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06" r:id="rId14"/>
    <p:sldId id="265" r:id="rId15"/>
    <p:sldId id="316" r:id="rId16"/>
    <p:sldId id="317" r:id="rId17"/>
    <p:sldId id="318" r:id="rId18"/>
    <p:sldId id="319" r:id="rId19"/>
    <p:sldId id="305" r:id="rId20"/>
    <p:sldId id="320" r:id="rId21"/>
    <p:sldId id="321" r:id="rId22"/>
    <p:sldId id="322" r:id="rId23"/>
    <p:sldId id="323" r:id="rId24"/>
    <p:sldId id="262" r:id="rId25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13A6A79-D85F-4D25-B5FC-3B5D6704A7FD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18288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B3DA358-1224-4AAF-A557-330CB2F189CB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llareddyuniversity.ac.in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.ssrn.com/sol3/papers.cfm?abstract_id=5089189" TargetMode="External"/><Relationship Id="rId2" Type="http://schemas.openxmlformats.org/officeDocument/2006/relationships/hyperlink" Target="https://papers.ssrn.com/sol3/papers.cfm?abstract_id=5088842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ww.researchgate.net/publication/381034963" TargetMode="External"/><Relationship Id="rId4" Type="http://schemas.openxmlformats.org/officeDocument/2006/relationships/hyperlink" Target="https://www.sciencedirect.com/science/article/pii/S2772662224001115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DFAB-946D-4828-BEB0-01F20722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97" y="97654"/>
            <a:ext cx="12014522" cy="6661960"/>
          </a:xfrm>
        </p:spPr>
        <p:txBody>
          <a:bodyPr>
            <a:normAutofit/>
          </a:bodyPr>
          <a:lstStyle/>
          <a:p>
            <a:pPr marR="441960">
              <a:spcBef>
                <a:spcPts val="445"/>
              </a:spcBef>
              <a:spcAft>
                <a:spcPts val="0"/>
              </a:spcAft>
            </a:pP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			</a:t>
            </a:r>
            <a:br>
              <a:rPr lang="en-IN" sz="18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		   </a:t>
            </a:r>
            <a:br>
              <a:rPr lang="en-IN" sz="20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				</a:t>
            </a:r>
            <a:b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                              </a:t>
            </a:r>
            <a:r>
              <a:rPr lang="en-US" sz="20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Department of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Information Technology</a:t>
            </a:r>
            <a:br>
              <a:rPr lang="en-US" sz="20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8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Multi-Model Deep Learning Framework for Real-Time Road Damage Detection and Severity Classification</a:t>
            </a:r>
            <a:br>
              <a:rPr lang="en-IN" sz="17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7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</a:t>
            </a:r>
            <a:r>
              <a:rPr lang="en-IN" sz="16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br>
              <a:rPr lang="en-IN" sz="16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Batch no - 09</a:t>
            </a:r>
            <a:b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				</a:t>
            </a:r>
            <a:b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2211IT010045 – K. Chinmayee</a:t>
            </a:r>
            <a:b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2211IT010034 -  D. Sai Sindhu</a:t>
            </a:r>
            <a:b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2211IT010044 -  J. Arun</a:t>
            </a:r>
            <a:b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2211IT010050 -  K. Sandeep</a:t>
            </a:r>
            <a:b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8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br>
              <a:rPr lang="en-IN" sz="18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b="1" cap="none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         </a:t>
            </a:r>
            <a:r>
              <a:rPr lang="en-IN" sz="1800" b="1" cap="none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Guide: Dr. L. Neelu</a:t>
            </a: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7005" y="570229"/>
            <a:ext cx="6777990" cy="1145540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4564022" y="1429198"/>
            <a:ext cx="2753995" cy="357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6350" marR="6350" algn="ctr">
              <a:lnSpc>
                <a:spcPct val="115000"/>
              </a:lnSpc>
              <a:spcAft>
                <a:spcPts val="0"/>
              </a:spcAft>
            </a:pPr>
            <a:r>
              <a:rPr lang="en-IN" sz="950" spc="-5" dirty="0">
                <a:effectLst/>
                <a:latin typeface="Calibri"/>
                <a:ea typeface="Calibri"/>
                <a:cs typeface="Times New Roman"/>
              </a:rPr>
              <a:t>(</a:t>
            </a:r>
            <a:r>
              <a:rPr lang="en-IN" sz="900" b="1" spc="-5" dirty="0" err="1">
                <a:effectLst/>
                <a:latin typeface="Calibri"/>
                <a:ea typeface="Calibri"/>
                <a:cs typeface="Times New Roman"/>
              </a:rPr>
              <a:t>Telangana</a:t>
            </a:r>
            <a:r>
              <a:rPr lang="en-IN" sz="900" b="1" spc="-1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State</a:t>
            </a:r>
            <a:r>
              <a:rPr lang="en-IN" sz="900" b="1" spc="-3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Private</a:t>
            </a:r>
            <a:r>
              <a:rPr lang="en-IN" sz="900" b="1" spc="-5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Universities</a:t>
            </a:r>
            <a:r>
              <a:rPr lang="en-IN" sz="900" b="1" spc="-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Act</a:t>
            </a:r>
            <a:r>
              <a:rPr lang="en-IN" sz="900" b="1" spc="-4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No.</a:t>
            </a:r>
            <a:r>
              <a:rPr lang="en-IN" sz="900" b="1" spc="-1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13</a:t>
            </a:r>
            <a:r>
              <a:rPr lang="en-IN" sz="900" b="1" spc="-3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of</a:t>
            </a:r>
            <a:r>
              <a:rPr lang="en-IN" sz="900" b="1" spc="-4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2020</a:t>
            </a:r>
            <a:r>
              <a:rPr lang="en-IN" sz="900" b="1" spc="-2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&amp;</a:t>
            </a:r>
            <a:endParaRPr lang="en-IN" sz="1100" dirty="0">
              <a:effectLst/>
              <a:latin typeface="Calibri"/>
              <a:ea typeface="Calibri"/>
              <a:cs typeface="Times New Roman"/>
            </a:endParaRPr>
          </a:p>
          <a:p>
            <a:pPr marL="5715" marR="6350" algn="ctr">
              <a:lnSpc>
                <a:spcPct val="115000"/>
              </a:lnSpc>
              <a:spcBef>
                <a:spcPts val="5"/>
              </a:spcBef>
              <a:spcAft>
                <a:spcPts val="0"/>
              </a:spcAft>
            </a:pP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G.O.Ms.</a:t>
            </a:r>
            <a:r>
              <a:rPr lang="en-IN" sz="900" b="1" spc="-4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No.</a:t>
            </a:r>
            <a:r>
              <a:rPr lang="en-IN" sz="900" b="1" spc="-2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14,</a:t>
            </a:r>
            <a:r>
              <a:rPr lang="en-IN" sz="900" b="1" spc="-5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Higher</a:t>
            </a:r>
            <a:r>
              <a:rPr lang="en-IN" sz="900" b="1" spc="-4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Education</a:t>
            </a:r>
            <a:r>
              <a:rPr lang="en-IN" sz="900" b="1" spc="-1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(UE)</a:t>
            </a:r>
            <a:r>
              <a:rPr lang="en-IN" sz="900" b="1" spc="-4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00" b="1" dirty="0">
                <a:effectLst/>
                <a:latin typeface="Calibri"/>
                <a:ea typeface="Calibri"/>
                <a:cs typeface="Times New Roman"/>
              </a:rPr>
              <a:t>Department</a:t>
            </a:r>
            <a:r>
              <a:rPr lang="en-IN" sz="950" dirty="0">
                <a:effectLst/>
                <a:latin typeface="Calibri"/>
                <a:ea typeface="Calibri"/>
                <a:cs typeface="Times New Roman"/>
              </a:rPr>
              <a:t>)</a:t>
            </a:r>
            <a:endParaRPr lang="en-IN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685158" y="906650"/>
            <a:ext cx="1440180" cy="753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12700" marR="5080">
              <a:lnSpc>
                <a:spcPct val="92000"/>
              </a:lnSpc>
              <a:spcAft>
                <a:spcPts val="1000"/>
              </a:spcAft>
            </a:pP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Maisammaguda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,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Kompally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,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Medchal</a:t>
            </a:r>
            <a:r>
              <a:rPr lang="en-IN" sz="950" b="1" spc="-2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-</a:t>
            </a:r>
            <a:r>
              <a:rPr lang="en-IN" sz="950" b="1" spc="-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Malkajgiri</a:t>
            </a:r>
            <a:r>
              <a:rPr lang="en-IN" sz="950" b="1" spc="-3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District</a:t>
            </a:r>
            <a:r>
              <a:rPr lang="en-IN" sz="950" b="1" spc="-200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Hyderabad - 500100,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 err="1">
                <a:effectLst/>
                <a:latin typeface="Calibri"/>
                <a:ea typeface="Calibri"/>
                <a:cs typeface="Times New Roman"/>
              </a:rPr>
              <a:t>Telangana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dirty="0">
                <a:effectLst/>
                <a:latin typeface="Calibri"/>
                <a:ea typeface="Calibri"/>
                <a:cs typeface="Times New Roman"/>
              </a:rPr>
              <a:t>State</a:t>
            </a:r>
            <a:r>
              <a:rPr lang="en-IN" sz="950" b="1" u="none" strike="noStrike" dirty="0">
                <a:effectLst/>
                <a:latin typeface="Calibri"/>
                <a:ea typeface="Calibri"/>
                <a:cs typeface="Times New Roman"/>
                <a:hlinkClick r:id="rId3"/>
              </a:rPr>
              <a:t>.</a:t>
            </a:r>
            <a:r>
              <a:rPr lang="en-IN" sz="950" b="1" spc="5" dirty="0">
                <a:effectLst/>
                <a:latin typeface="Calibri"/>
                <a:ea typeface="Calibri"/>
                <a:cs typeface="Times New Roman"/>
              </a:rPr>
              <a:t> </a:t>
            </a:r>
            <a:r>
              <a:rPr lang="en-IN" sz="950" b="1" u="none" strike="noStrike" dirty="0">
                <a:effectLst/>
                <a:latin typeface="Calibri"/>
                <a:ea typeface="Calibri"/>
                <a:cs typeface="Times New Roman"/>
                <a:hlinkClick r:id="rId3"/>
              </a:rPr>
              <a:t>www.mallareddyuniversity.</a:t>
            </a:r>
            <a:endParaRPr lang="en-IN" sz="1100" dirty="0">
              <a:effectLst/>
              <a:latin typeface="Calibri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4838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421C5-881D-3284-4BF6-0FEE20C3D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16280"/>
            <a:ext cx="10972800" cy="802419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CONTENTS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613DA3-14FB-87FC-0012-3EDA7BB272E1}"/>
              </a:ext>
            </a:extLst>
          </p:cNvPr>
          <p:cNvSpPr txBox="1"/>
          <p:nvPr/>
        </p:nvSpPr>
        <p:spPr>
          <a:xfrm>
            <a:off x="469128" y="2308429"/>
            <a:ext cx="86808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339432-FA59-8F34-918F-AE06AD246EBB}"/>
              </a:ext>
            </a:extLst>
          </p:cNvPr>
          <p:cNvSpPr txBox="1"/>
          <p:nvPr/>
        </p:nvSpPr>
        <p:spPr>
          <a:xfrm>
            <a:off x="724231" y="1619901"/>
            <a:ext cx="836212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&amp; Abstract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Literature Review Document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Detailed Methodology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Evidence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Implementation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Results &amp;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Discussion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6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77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3EF435-0DAE-B2DB-D0BF-B191EAFE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46" y="565485"/>
            <a:ext cx="109728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&amp; ABSTRACT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AED971-8CBE-BA30-02A2-810AEA471DBC}"/>
              </a:ext>
            </a:extLst>
          </p:cNvPr>
          <p:cNvSpPr txBox="1"/>
          <p:nvPr/>
        </p:nvSpPr>
        <p:spPr>
          <a:xfrm>
            <a:off x="280946" y="1556085"/>
            <a:ext cx="11141033" cy="3874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Multi-Model Deep Learning Framework for Real-Time Road Damage Detection and Severity Classification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ABSTRACT: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an AI-based road damage detection system using a multi-model deep learning approach. It utilizes a YOLO model for real-time pothole detection and a CNN model for classifying damage severity into Low, Medium, and High levels. The system processes road images through a web-based interface and provides instant, structured results to users. By integrating detection, classification, and visualization, the system enables efficient road monitoring and supports data-driven maintenance decisions. This solution demonstrates how computer vision and deep learning can be applied to improve infrastructure safety and smart city development.</a:t>
            </a:r>
          </a:p>
        </p:txBody>
      </p:sp>
    </p:spTree>
    <p:extLst>
      <p:ext uri="{BB962C8B-B14F-4D97-AF65-F5344CB8AC3E}">
        <p14:creationId xmlns:p14="http://schemas.microsoft.com/office/powerpoint/2010/main" val="1042874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B4FF-A373-E29D-C266-CE1E74A35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E7CA2-5A93-4C3C-DCDD-528334C3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46" y="565485"/>
            <a:ext cx="109728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BACKGROUND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EE8C1-6034-EBBE-7BC1-0A5DE3B1CFA8}"/>
              </a:ext>
            </a:extLst>
          </p:cNvPr>
          <p:cNvSpPr txBox="1"/>
          <p:nvPr/>
        </p:nvSpPr>
        <p:spPr>
          <a:xfrm>
            <a:off x="280946" y="1556085"/>
            <a:ext cx="1114103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road conditions using computer vision helps identify damages that impact safety and transportation efficiency. Traditional inspection methods are manual, time-consuming, and prone to errors. This project applies advanced deep learning techniques to automatically detect road damages and classify their severity, presenting the results through a web-based interface for real-time monitoring and decision-making.</a:t>
            </a:r>
          </a:p>
          <a:p>
            <a:pPr algn="just">
              <a:lnSpc>
                <a:spcPct val="150000"/>
              </a:lnSpc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 –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road damage issues affecting safety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automated road inspection systems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deep learning in image-based detection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real-time and accessible solutions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8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4EE-1B7E-47A3-246D-2B29BADBF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8FCA75-DD41-A6B8-4E02-B883FB5D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46" y="565485"/>
            <a:ext cx="109728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PROBLEM DEFINITION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A8D26-53E5-D292-0B13-F184CB07F9A5}"/>
              </a:ext>
            </a:extLst>
          </p:cNvPr>
          <p:cNvSpPr txBox="1"/>
          <p:nvPr/>
        </p:nvSpPr>
        <p:spPr>
          <a:xfrm>
            <a:off x="280946" y="1556085"/>
            <a:ext cx="11141033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road inspection methods rely on manual surveys or sensor-based systems, which are time-consuming, costly, and inefficient. Most existing solutions focus only on detecting potholes without considering the severity of the damage. Additionally, many systems fail to provide real-time results and require expensive hardware, limiting their practical deployment. This project addresses these challenges by developing an AI-based system that performs both detection and severity classification with real-time, web-based output for better road maintenance planning.</a:t>
            </a:r>
          </a:p>
        </p:txBody>
      </p:sp>
    </p:spTree>
    <p:extLst>
      <p:ext uri="{BB962C8B-B14F-4D97-AF65-F5344CB8AC3E}">
        <p14:creationId xmlns:p14="http://schemas.microsoft.com/office/powerpoint/2010/main" val="907553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1AEC-CF22-83F3-9E66-92D301FAD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D64F84-3F12-8AF0-41AB-FB1A35A3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46" y="565485"/>
            <a:ext cx="109728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BD0AD-E188-12E9-D45E-83C113C2EBA1}"/>
              </a:ext>
            </a:extLst>
          </p:cNvPr>
          <p:cNvSpPr txBox="1"/>
          <p:nvPr/>
        </p:nvSpPr>
        <p:spPr>
          <a:xfrm>
            <a:off x="280946" y="1556085"/>
            <a:ext cx="11141033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objectives define the key goals for developing an efficient AI-based road damage detection system. The aim is to build a complete pipeline from image input to real-time detection and severity classification, ensuring practical deployment for road monitoring.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 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road image datasets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YOLO-based pothole detection model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CNN-based severity classification (Low/Medium/High)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real-time detection through web interface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frontend, backend, and database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system performance using metrics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25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A5B5-EB14-AD99-2250-4D7CF75E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155991-DCFF-B34D-7628-EAA9AF00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36" y="501874"/>
            <a:ext cx="109728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SCOPE &amp; LIMITATIONS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2CF46D-161F-5476-F99F-357EBFBE2E2B}"/>
              </a:ext>
            </a:extLst>
          </p:cNvPr>
          <p:cNvSpPr txBox="1"/>
          <p:nvPr/>
        </p:nvSpPr>
        <p:spPr>
          <a:xfrm>
            <a:off x="280946" y="1492474"/>
            <a:ext cx="11141033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Image-based road damage detection system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for real-time pothole detection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for severity classification (Low/Medium/High)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interface for result visualization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affected by poor lighting and weather conditions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depth-based damage estimation (only 2D images)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depends on dataset quality and diversity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computational resources for model execution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14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3D0BF-16A3-A302-AF38-41C1D868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F64C46-5D0F-358B-9F93-BDF237F45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36" y="501874"/>
            <a:ext cx="109728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DOCUMENT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A69AC1-1C0A-6E10-DF51-64B229957C5B}"/>
              </a:ext>
            </a:extLst>
          </p:cNvPr>
          <p:cNvSpPr txBox="1"/>
          <p:nvPr/>
        </p:nvSpPr>
        <p:spPr>
          <a:xfrm>
            <a:off x="280946" y="1492474"/>
            <a:ext cx="11141033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Real Time Pothole Detection Using YOLO Algorithm (2025)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It highlights how automated systems can replace manual inspection methods. </a:t>
            </a:r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YOLOv8-based Pothole Detection: A Real-time Approach (2025)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This study applies YOLOv8 for fast and accurate pothole detection in real-world scenarios. It emphasizes the importance of computer vision in infrastructure monitoring. </a:t>
            </a:r>
          </a:p>
          <a:p>
            <a:pPr marL="342900" indent="-342900" algn="just">
              <a:lnSpc>
                <a:spcPct val="150000"/>
              </a:lnSpc>
              <a:buFontTx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A Deep Learning Model for Pothole Detection (2024)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This paper uses deep learning models to detect potholes with good accuracy and real-time performance. It achieves around 82% accuracy and supports live video-based detection. </a:t>
            </a:r>
            <a:endParaRPr lang="en-US" dirty="0"/>
          </a:p>
          <a:p>
            <a:pPr marL="342900" indent="-342900" algn="just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POT-YOLO: Real-Time Road Pothole Detection using YOLOv8 (2024)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This research proposes an improved YOLOv8 model for detecting different types of road damages. It achieves high precision and improves detection performance in complex environments. 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7013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E2476-D53C-70CE-6DF0-D6F460F1E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CF6B2E-0AA0-D303-35D8-62EAD177A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36" y="501874"/>
            <a:ext cx="109728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C51FA5-7FB1-E3DE-02ED-075C78A2382B}"/>
              </a:ext>
            </a:extLst>
          </p:cNvPr>
          <p:cNvSpPr txBox="1"/>
          <p:nvPr/>
        </p:nvSpPr>
        <p:spPr>
          <a:xfrm>
            <a:off x="280946" y="1492474"/>
            <a:ext cx="11141033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on road damage detection mainly focus on identifying potholes without considering severity classification. Many approaches lack real-time processing and require expensive hardware, making them less practical for large-scale deployment. Additionally, limited integration with web-based systems reduces accessibility and usability. This project addresses these gaps by combining YOLO-based detection with CNN-based severity classification and providing real-time results through a web-enabled interface.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556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FF21-95AE-3E76-A030-A7736827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A38E4A-3C27-FB4F-E51B-A1CC77751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36" y="501874"/>
            <a:ext cx="109728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6BFC53-7AF1-36AE-E803-6A164CB97E43}"/>
              </a:ext>
            </a:extLst>
          </p:cNvPr>
          <p:cNvSpPr txBox="1"/>
          <p:nvPr/>
        </p:nvSpPr>
        <p:spPr>
          <a:xfrm>
            <a:off x="280946" y="1492474"/>
            <a:ext cx="11141033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follows an end-to-end pipeline that processes road images using deep learning models to detect damages and classify their severity. It integrates a YOLO model for real-time pothole detection and a CNN model for severity classification, delivering results through a web-based interface for efficient and user-friendly monitoring.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 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 image collection (upload/capture)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 and normalization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pothole detection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severity classification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for result visualization </a:t>
            </a:r>
          </a:p>
          <a:p>
            <a:pPr algn="just"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54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718A0-45B3-5077-AD50-F7C06922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26A0CA-366F-5F43-D283-6ABF456CD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36" y="501874"/>
            <a:ext cx="10972800" cy="9906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BA592B-8C14-7CDA-6BC7-053BFA0F175C}"/>
              </a:ext>
            </a:extLst>
          </p:cNvPr>
          <p:cNvSpPr txBox="1"/>
          <p:nvPr/>
        </p:nvSpPr>
        <p:spPr>
          <a:xfrm>
            <a:off x="280946" y="1492474"/>
            <a:ext cx="11141033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focuses on building a structured deep learning pipeline that processes road images to detect damages and classify their severity. The system uses a YOLO model for accurate pothole detection and a CNN model for classifying severity levels, with results displayed through a web-based interface.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 –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collection and preprocessing (resizing, normalization)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deep learning models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model for pothole detection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model for severity classification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integration for result visualization</a:t>
            </a:r>
          </a:p>
        </p:txBody>
      </p:sp>
    </p:spTree>
    <p:extLst>
      <p:ext uri="{BB962C8B-B14F-4D97-AF65-F5344CB8AC3E}">
        <p14:creationId xmlns:p14="http://schemas.microsoft.com/office/powerpoint/2010/main" val="330777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43F49-AB6B-76CB-5A83-5BE4D4F95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0D411A-FDED-EEC5-B53D-11FC1818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336" y="492981"/>
            <a:ext cx="10972800" cy="999493"/>
          </a:xfrm>
        </p:spPr>
        <p:txBody>
          <a:bodyPr>
            <a:noAutofit/>
          </a:bodyPr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METHODOLOGY - ALGORITHM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8FEF5B-EE89-B1D9-47B6-9611B9F788B1}"/>
              </a:ext>
            </a:extLst>
          </p:cNvPr>
          <p:cNvSpPr/>
          <p:nvPr/>
        </p:nvSpPr>
        <p:spPr>
          <a:xfrm>
            <a:off x="3571848" y="1553928"/>
            <a:ext cx="3187700" cy="660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Input &amp; Preprocessing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DD639F3F-F20C-41B7-7F12-9A861BE7D2E1}"/>
              </a:ext>
            </a:extLst>
          </p:cNvPr>
          <p:cNvCxnSpPr/>
          <p:nvPr/>
        </p:nvCxnSpPr>
        <p:spPr>
          <a:xfrm>
            <a:off x="5155096" y="2214328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93DD4FE-4CBC-E5A8-2204-9AB1DB88211D}"/>
              </a:ext>
            </a:extLst>
          </p:cNvPr>
          <p:cNvSpPr/>
          <p:nvPr/>
        </p:nvSpPr>
        <p:spPr>
          <a:xfrm>
            <a:off x="3561246" y="2768600"/>
            <a:ext cx="3187700" cy="660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Pothole Detection (YOLO)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536DB07-CB17-DA82-EE65-763FAB7EA2E4}"/>
              </a:ext>
            </a:extLst>
          </p:cNvPr>
          <p:cNvCxnSpPr/>
          <p:nvPr/>
        </p:nvCxnSpPr>
        <p:spPr>
          <a:xfrm>
            <a:off x="5152446" y="3429000"/>
            <a:ext cx="0" cy="482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E9DEB4F-E1F2-0F84-C401-10612D0DED44}"/>
              </a:ext>
            </a:extLst>
          </p:cNvPr>
          <p:cNvSpPr/>
          <p:nvPr/>
        </p:nvSpPr>
        <p:spPr>
          <a:xfrm>
            <a:off x="3558596" y="3911600"/>
            <a:ext cx="3187700" cy="660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severity Classification (CNN)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DCC15C-3F6E-A604-9AC5-18FAEEF986CE}"/>
              </a:ext>
            </a:extLst>
          </p:cNvPr>
          <p:cNvCxnSpPr/>
          <p:nvPr/>
        </p:nvCxnSpPr>
        <p:spPr>
          <a:xfrm>
            <a:off x="5152446" y="4572000"/>
            <a:ext cx="0" cy="508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43479826-6C53-7030-72D6-A98A45463957}"/>
              </a:ext>
            </a:extLst>
          </p:cNvPr>
          <p:cNvSpPr/>
          <p:nvPr/>
        </p:nvSpPr>
        <p:spPr>
          <a:xfrm>
            <a:off x="3571848" y="5141454"/>
            <a:ext cx="3187700" cy="660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Output &amp; Storage</a:t>
            </a:r>
          </a:p>
        </p:txBody>
      </p:sp>
    </p:spTree>
    <p:extLst>
      <p:ext uri="{BB962C8B-B14F-4D97-AF65-F5344CB8AC3E}">
        <p14:creationId xmlns:p14="http://schemas.microsoft.com/office/powerpoint/2010/main" val="3935552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F9EA79-06A0-B5E1-2E2E-8540A66D88AD}"/>
              </a:ext>
            </a:extLst>
          </p:cNvPr>
          <p:cNvSpPr txBox="1"/>
          <p:nvPr/>
        </p:nvSpPr>
        <p:spPr>
          <a:xfrm>
            <a:off x="296186" y="495820"/>
            <a:ext cx="113604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METHODOLOGY – SYSTEM ARCHITECTURE</a:t>
            </a:r>
            <a:endParaRPr lang="en-IN" sz="3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DAC18-D39A-6C0E-2B0E-747FAC37F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443" y="1696149"/>
            <a:ext cx="7863841" cy="482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0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200" y="408830"/>
            <a:ext cx="10972800" cy="87928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EVIDENCE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73A47DA-570B-45E0-8EA4-FD8AF4FB9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1760326"/>
            <a:ext cx="9702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71D65-C79A-156F-4B93-247B0D17FB48}"/>
              </a:ext>
            </a:extLst>
          </p:cNvPr>
          <p:cNvSpPr txBox="1"/>
          <p:nvPr/>
        </p:nvSpPr>
        <p:spPr>
          <a:xfrm>
            <a:off x="620202" y="1463040"/>
            <a:ext cx="1004779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54C5E34-C821-7950-8920-EF8D54B47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039874"/>
              </p:ext>
            </p:extLst>
          </p:nvPr>
        </p:nvGraphicFramePr>
        <p:xfrm>
          <a:off x="1072101" y="1359673"/>
          <a:ext cx="10047798" cy="5283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3899">
                  <a:extLst>
                    <a:ext uri="{9D8B030D-6E8A-4147-A177-3AD203B41FA5}">
                      <a16:colId xmlns:a16="http://schemas.microsoft.com/office/drawing/2014/main" val="1378603397"/>
                    </a:ext>
                  </a:extLst>
                </a:gridCol>
                <a:gridCol w="5023899">
                  <a:extLst>
                    <a:ext uri="{9D8B030D-6E8A-4147-A177-3AD203B41FA5}">
                      <a16:colId xmlns:a16="http://schemas.microsoft.com/office/drawing/2014/main" val="3816692759"/>
                    </a:ext>
                  </a:extLst>
                </a:gridCol>
              </a:tblGrid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Implementation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8246649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Image Upload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Validates image format and size successfully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994730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Image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Resizing and normalization applied 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2697378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YOLO Detection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Accurately detects potholes with bounding boxes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576818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ROI Extraction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Detected regions extracted efficiently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952100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CNN Classification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Outputs stable severity predictions (Low/Medium/High)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473777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Web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Displays results in real-time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813273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Database (MongoDB)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Ensures reliable data storage (100% write success)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2948199"/>
                  </a:ext>
                </a:extLst>
              </a:tr>
              <a:tr h="56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Frontend, backend, and models fully integrated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303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7963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1F9C-6678-2807-5550-9B2D103C1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004F-DD42-A436-8ED9-5B054B78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00" y="408830"/>
            <a:ext cx="10972800" cy="879281"/>
          </a:xfrm>
        </p:spPr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EVIDENCE - DATASET DESCRIPTION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BF0F0A6-FC98-1380-6B13-1DED7E24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5200" y="1760326"/>
            <a:ext cx="97028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C8C47-2CDF-8758-B4E4-32F7715689FC}"/>
              </a:ext>
            </a:extLst>
          </p:cNvPr>
          <p:cNvSpPr txBox="1"/>
          <p:nvPr/>
        </p:nvSpPr>
        <p:spPr>
          <a:xfrm>
            <a:off x="620202" y="1463040"/>
            <a:ext cx="10047798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521C5-1E25-09AC-2C88-E439852DA302}"/>
              </a:ext>
            </a:extLst>
          </p:cNvPr>
          <p:cNvSpPr txBox="1"/>
          <p:nvPr/>
        </p:nvSpPr>
        <p:spPr>
          <a:xfrm>
            <a:off x="445274" y="1463040"/>
            <a:ext cx="11126524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road image datasets were used to train and evaluate the model, including publicly available datasets and real-world captured images. The images were preprocessed to remove noise, standardize resolution, and improve quality for accurate detection and classification.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deep learning models (YOLO and CNN) to detect potholes and classify their severity, converting raw road images into meaningful insights for infrastructure monitoring.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the web interface with backend and database improves accessibility and usability, allowing users to view real-time detection results and support efficient road maintenance decisions.</a:t>
            </a:r>
          </a:p>
        </p:txBody>
      </p:sp>
    </p:spTree>
    <p:extLst>
      <p:ext uri="{BB962C8B-B14F-4D97-AF65-F5344CB8AC3E}">
        <p14:creationId xmlns:p14="http://schemas.microsoft.com/office/powerpoint/2010/main" val="4123378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24CB9-C904-A325-8761-A589257F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3E32D-0069-A2C2-CA44-6D3051ABE5E6}"/>
              </a:ext>
            </a:extLst>
          </p:cNvPr>
          <p:cNvSpPr txBox="1"/>
          <p:nvPr/>
        </p:nvSpPr>
        <p:spPr>
          <a:xfrm>
            <a:off x="667910" y="1693628"/>
            <a:ext cx="8474102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Layer →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Interface (HTML, CSS, JavaScript)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Layer →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AI/ML Layer →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YOLO (Detection), CNN (Classification), OpenCV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→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Image Dataset, NumPy, Pandas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Layer →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</a:t>
            </a:r>
          </a:p>
        </p:txBody>
      </p:sp>
    </p:spTree>
    <p:extLst>
      <p:ext uri="{BB962C8B-B14F-4D97-AF65-F5344CB8AC3E}">
        <p14:creationId xmlns:p14="http://schemas.microsoft.com/office/powerpoint/2010/main" val="2826677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7E872-E8CD-D620-3D2A-B3FA199E7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IMPLEMENTATION – FULLY WORKING MODEL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ABB596-BBD4-C914-FB97-ABDCE69ADE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627" y="1470728"/>
            <a:ext cx="9381916" cy="53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43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0259-4C77-4991-40D2-BD819E1A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IMPLEMENTATION – FINAL SCREENSHOTS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3A7F37-5936-7D57-3EBA-8F1F8F51F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46331"/>
            <a:ext cx="5271712" cy="29653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36ACA3-1530-5C7B-3210-6AC3A8B88E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4670" y="1946331"/>
            <a:ext cx="5271712" cy="29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42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A05587-9C85-A994-3AC7-350D689D5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5" y="1946331"/>
            <a:ext cx="5271712" cy="2965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495BF0-F093-D1B4-A96B-328AC1335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46331"/>
            <a:ext cx="5271712" cy="296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417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44744-0146-3498-1801-34B136EA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05" y="517497"/>
            <a:ext cx="10972800" cy="9906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– QUANTITATIVE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D54C8-AA9D-FB0C-558F-1660F49DFED9}"/>
              </a:ext>
            </a:extLst>
          </p:cNvPr>
          <p:cNvSpPr txBox="1"/>
          <p:nvPr/>
        </p:nvSpPr>
        <p:spPr>
          <a:xfrm>
            <a:off x="410817" y="1508097"/>
            <a:ext cx="10972800" cy="5216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evaluation performed using standard deep learning metrics: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 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shows effective performance in detecting potholes and classifying severity levels (Low, Medium, High) across diverse road conditions.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demonstrate improved efficiency and accuracy compared to traditional manual inspection methods.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 and visual outputs illustrate: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performance metrics (Precision–Recall,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Severity classification results (class-wise accuracy) 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11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47ED-AECC-9803-03B2-D21902EC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&amp; ANALYSIS – COMPARISION WITH EXISTING METHODS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6AD653-3EF2-2BC8-7A49-B07B433DA8A0}"/>
              </a:ext>
            </a:extLst>
          </p:cNvPr>
          <p:cNvSpPr txBox="1"/>
          <p:nvPr/>
        </p:nvSpPr>
        <p:spPr>
          <a:xfrm>
            <a:off x="739471" y="1812897"/>
            <a:ext cx="10842929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provides both pothole detection and severity classification, unlike existing approaches that focus only on detection.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better decision-making for road maintenance by identifying damage levels (Low, Medium, High).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real-time usability through web-based integration, making it more practical and scalable compared to traditional methods.</a:t>
            </a:r>
          </a:p>
        </p:txBody>
      </p:sp>
    </p:spTree>
    <p:extLst>
      <p:ext uri="{BB962C8B-B14F-4D97-AF65-F5344CB8AC3E}">
        <p14:creationId xmlns:p14="http://schemas.microsoft.com/office/powerpoint/2010/main" val="9841893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BA187-ABA7-B98B-1E21-4B345E78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817" y="565206"/>
            <a:ext cx="10972800" cy="9906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684ECE-CEFD-4805-B62B-7275A698AA33}"/>
              </a:ext>
            </a:extLst>
          </p:cNvPr>
          <p:cNvSpPr txBox="1"/>
          <p:nvPr/>
        </p:nvSpPr>
        <p:spPr>
          <a:xfrm>
            <a:off x="510208" y="1685676"/>
            <a:ext cx="10774017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implements an AI-based road damage detection system using a multi-model deep learning approach. By combining YOLO for pothole detection and CNN for severity classification, the system provides accurate and real-time results.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 web-based interface and database enables efficient monitoring and management of road conditions. The results demonstrate the effectiveness of deep learning techniques in improving road safety and supporting data-driven maintenance decisions.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5705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6613-BF62-8366-2F5C-0AAC24756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013" y="424105"/>
            <a:ext cx="10972800" cy="990600"/>
          </a:xfrm>
        </p:spPr>
        <p:txBody>
          <a:bodyPr>
            <a:norm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– ACHIEVEMENTS &amp; KEY CONTRIBUTIONS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1080FA-071B-4BB3-15A3-733CDC8A948B}"/>
              </a:ext>
            </a:extLst>
          </p:cNvPr>
          <p:cNvSpPr txBox="1"/>
          <p:nvPr/>
        </p:nvSpPr>
        <p:spPr>
          <a:xfrm>
            <a:off x="500269" y="1414705"/>
            <a:ext cx="11066228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 of Objectives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YOLO-based pothole detection system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CNN-based severity classification (Low / Medium / High)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frontend, backend, and MongoDB for complete system deployment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reliable accuracy with real-time inference performance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structured road maintenance through severity-based analysis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multi-model deep learning framework (YOLO + CNN)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real-time, web-based road damage detection system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automated pipeline from image input to result storage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 scalable and cost-effective solution for smart infrastructure monitoring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011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593E-9CCE-4C44-9E3C-FD98DFA0D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75208"/>
            <a:ext cx="11140844" cy="6098959"/>
          </a:xfrm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9121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7881</TotalTime>
  <Words>1604</Words>
  <Application>Microsoft Office PowerPoint</Application>
  <PresentationFormat>Widescreen</PresentationFormat>
  <Paragraphs>142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Clarity</vt:lpstr>
      <vt:lpstr>                                                                                                                                                                                  Department of Information Technology                        A Multi-Model Deep Learning Framework for Real-Time Road Damage Detection and Severity Classification                                                                                                                                                                                                                                                            Batch no - 09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2211IT010045 – K. Chinmayee                                                                                                                                                                                                                     2211IT010034 -  D. Sai Sindhu                                                                                                                                                                                                                     2211IT010044 -  J. Arun                                                                                                                                                                                                                     2211IT010050 -  K. Sandeep                      Guide: Dr. L. Neelu</vt:lpstr>
      <vt:lpstr>                               CONTENTS</vt:lpstr>
      <vt:lpstr>PROJECT TITLE &amp; ABSTRACT</vt:lpstr>
      <vt:lpstr>INTRODUCTION - BACKGROUND</vt:lpstr>
      <vt:lpstr>INTRODUCTION – PROBLEM DEFINITION</vt:lpstr>
      <vt:lpstr>INTRODUCTION – OBJECTIVES</vt:lpstr>
      <vt:lpstr>INTRODUCTION – SCOPE &amp; LIMITATIONS</vt:lpstr>
      <vt:lpstr>LITERATURE REVIEW DOCUMENT</vt:lpstr>
      <vt:lpstr>RESEARCH GAP</vt:lpstr>
      <vt:lpstr>PROPOSED SOLUTION </vt:lpstr>
      <vt:lpstr>DETAILED METHODOLOGY</vt:lpstr>
      <vt:lpstr> DETAILED METHODOLOGY - ALGORITHM </vt:lpstr>
      <vt:lpstr>PowerPoint Presentation</vt:lpstr>
      <vt:lpstr>IMPLEMENTATION EVIDENCE</vt:lpstr>
      <vt:lpstr>IMPLEMENTATION EVIDENCE - DATASET DESCRIPTION</vt:lpstr>
      <vt:lpstr>TECHNOLOGY STACK</vt:lpstr>
      <vt:lpstr>COMPLETE IMPLEMENTATION – FULLY WORKING MODEL</vt:lpstr>
      <vt:lpstr>COMPLETE IMPLEMENTATION – FINAL SCREENSHOTS</vt:lpstr>
      <vt:lpstr>PowerPoint Presentation</vt:lpstr>
      <vt:lpstr>RESULT &amp; ANALYSIS – QUANTITATIVE RESULTS</vt:lpstr>
      <vt:lpstr>RESULT &amp; ANALYSIS – COMPARISION WITH EXISTING METHODS</vt:lpstr>
      <vt:lpstr>CONCLUSION</vt:lpstr>
      <vt:lpstr>CONCLUSION – ACHIEVEMENTS &amp; KEY CONTRIBUTIONS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TALLA PADMAVATHI COLLEGE OF Engineering                       SOMIDI, KAZIPET, WARANGAL.       Department of electronics and communication engineering   Research area : VLSI                             Specific area of research: LOW POWER VLSIDESIGN     Proposed title name of the project:                    AN APC-COM BASED LUT OPTIMIZATION FOR DSP APPLICATIONS                                                                                                                                                           Batch no.1                                                                                                                                                                  1. 18UC1A0420 (N.Sravani)                                                                                                                                                                  2.18UC1A0401 (A.Swapna)                                                                                                                                3.18UC1A0428 (T.Satvika)                                                                                                                                                               4.17UC1A0405(E.Mahesh)</dc:title>
  <dc:creator>sravani neelam</dc:creator>
  <cp:lastModifiedBy>K SARANYA</cp:lastModifiedBy>
  <cp:revision>66</cp:revision>
  <cp:lastPrinted>2024-08-14T05:09:08Z</cp:lastPrinted>
  <dcterms:created xsi:type="dcterms:W3CDTF">2021-11-21T08:56:41Z</dcterms:created>
  <dcterms:modified xsi:type="dcterms:W3CDTF">2026-04-09T19:46:45Z</dcterms:modified>
</cp:coreProperties>
</file>